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pSTk21/qgIJzBiti5dFMtTIVy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7BC4B2-8FD8-4E3D-8A0F-254F319297D3}">
  <a:tblStyle styleId="{C77BC4B2-8FD8-4E3D-8A0F-254F319297D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166DFF5-065E-4685-8932-5BEBC420783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3" Type="http://schemas.openxmlformats.org/officeDocument/2006/relationships/tableStyles" Target="tableStyles.xml"/><Relationship Id="rId21" Type="http://schemas.openxmlformats.org/officeDocument/2006/relationships/customXml" Target="../customXml/item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" Type="http://schemas.openxmlformats.org/officeDocument/2006/relationships/presProps" Target="presProps.xml"/><Relationship Id="rId16" Type="http://schemas.openxmlformats.org/officeDocument/2006/relationships/slide" Target="slides/slide11.xml"/><Relationship Id="rId20" Type="http://schemas.openxmlformats.org/officeDocument/2006/relationships/customXml" Target="../customXml/item1.xml"/><Relationship Id="rId11" Type="http://schemas.openxmlformats.org/officeDocument/2006/relationships/slide" Target="slides/slide6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b5d807d25a_29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g1b5d807d25a_29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2e4e4a46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82e4e4a46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g382e4e4a46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2e4e4a46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82e4e4a46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g382e4e4a464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2e4e4a464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82e4e4a464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g382e4e4a464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2e4e4a464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82e4e4a464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g382e4e4a464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e4e4a464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82e4e4a464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g382e4e4a464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2e4e4a464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82e4e4a464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382e4e4a464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2e4e4a464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82e4e4a464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g382e4e4a464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2e4e4a464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82e4e4a464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382e4e4a464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2e4e4a464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82e4e4a464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g382e4e4a464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2e4e4a464_0_144:notes"/>
          <p:cNvSpPr/>
          <p:nvPr>
            <p:ph idx="2" type="sldImg"/>
          </p:nvPr>
        </p:nvSpPr>
        <p:spPr>
          <a:xfrm>
            <a:off x="422275" y="1243013"/>
            <a:ext cx="5961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82e4e4a464_0_144:notes"/>
          <p:cNvSpPr txBox="1"/>
          <p:nvPr>
            <p:ph idx="1" type="body"/>
          </p:nvPr>
        </p:nvSpPr>
        <p:spPr>
          <a:xfrm>
            <a:off x="680562" y="4783307"/>
            <a:ext cx="54444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382e4e4a464_0_144:notes"/>
          <p:cNvSpPr txBox="1"/>
          <p:nvPr>
            <p:ph idx="12" type="sldNum"/>
          </p:nvPr>
        </p:nvSpPr>
        <p:spPr>
          <a:xfrm>
            <a:off x="3854939" y="9440647"/>
            <a:ext cx="294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422275" y="1243013"/>
            <a:ext cx="5961000" cy="335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8:notes"/>
          <p:cNvSpPr txBox="1"/>
          <p:nvPr>
            <p:ph idx="1" type="body"/>
          </p:nvPr>
        </p:nvSpPr>
        <p:spPr>
          <a:xfrm>
            <a:off x="680562" y="4783307"/>
            <a:ext cx="54444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8:notes"/>
          <p:cNvSpPr txBox="1"/>
          <p:nvPr>
            <p:ph idx="12" type="sldNum"/>
          </p:nvPr>
        </p:nvSpPr>
        <p:spPr>
          <a:xfrm>
            <a:off x="3854939" y="9440647"/>
            <a:ext cx="294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5d807d25a_29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g1b5d807d25a_29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b9ff91776a_3_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1b9ff91776a_3_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g1b9ff91776a_3_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b9ff91776a_3_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1b9ff91776a_3_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1" name="Google Shape;21;g1b9ff91776a_3_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g1b9ff91776a_3_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1" y="-8546"/>
            <a:ext cx="12189729" cy="686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g1b9ff91776a_3_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1b9ff91776a_3_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g1b9ff91776a_3_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1b9ff91776a_3_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1b9ff91776a_3_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hapter &amp; Sub Unit">
  <p:cSld name="1_Chapter &amp; Sub Uni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1a52fff9953_12_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1a52fff9953_12_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g1a52fff9953_12_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1a52fff9953_12_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1a52fff9953_12_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b9ff91776a_3_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1b9ff91776a_3_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g1b9ff91776a_3_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g1b9ff91776a_3_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1b9ff91776a_3_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1b9ff91776a_3_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1b9ff91776a_3_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1b9ff91776a_3_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g1b9ff91776a_3_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g1b9ff91776a_3_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g1b9ff91776a_3_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g1b9ff91776a_3_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1b9ff91776a_3_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1b9ff91776a_3_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b9ff91776a_3_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1b9ff91776a_3_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1b9ff91776a_3_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1b9ff91776a_3_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b9ff91776a_3_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1b9ff91776a_3_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1b9ff91776a_3_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b9ff91776a_3_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1b9ff91776a_3_4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g1b9ff91776a_3_4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g1b9ff91776a_3_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1b9ff91776a_3_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1b9ff91776a_3_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b9ff91776a_3_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1b9ff91776a_3_4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g1b9ff91776a_3_4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g1b9ff91776a_3_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1b9ff91776a_3_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1b9ff91776a_3_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a52fff9953_12_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1a52fff9953_12_6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g1a52fff9953_12_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1a52fff9953_12_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1a52fff9953_12_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a52fff9953_12_6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1a52fff9953_12_6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g1a52fff9953_12_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1a52fff9953_12_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1a52fff9953_12_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b9ff91776a_3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1b9ff91776a_3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g1b9ff91776a_3_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g1b9ff91776a_3_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g1b9ff91776a_3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1b5d807d25a_29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5461" y="6497866"/>
            <a:ext cx="1059055" cy="2428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b5d807d25a_29_0"/>
          <p:cNvSpPr txBox="1"/>
          <p:nvPr/>
        </p:nvSpPr>
        <p:spPr>
          <a:xfrm>
            <a:off x="453252" y="2049297"/>
            <a:ext cx="6596477" cy="894638"/>
          </a:xfrm>
          <a:prstGeom prst="rect">
            <a:avLst/>
          </a:prstGeom>
          <a:noFill/>
          <a:ln>
            <a:noFill/>
          </a:ln>
        </p:spPr>
        <p:txBody>
          <a:bodyPr anchorCtr="0" anchor="t" bIns="56225" lIns="112500" spcFirstLastPara="1" rIns="112500" wrap="square" tIns="56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ko-KR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DX트랙 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ko-KR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빅프로젝트 워크시트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2e4e4a464_0_0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g382e4e4a46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g382e4e4a464_0_0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g382e4e4a464_0_0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" name="Google Shape;102;g382e4e4a464_0_0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223975"/>
                <a:gridCol w="3176025"/>
                <a:gridCol w="745875"/>
                <a:gridCol w="1721975"/>
                <a:gridCol w="382900"/>
                <a:gridCol w="2801975"/>
              </a:tblGrid>
              <a:tr h="38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반/조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수도권 5반 1</a:t>
                      </a:r>
                      <a:r>
                        <a:rPr lang="ko-KR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선정 BM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어시스턴트, 빅데이터 분석 컨설팅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 hMerge="1"/>
              </a:tr>
              <a:tr h="38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조원 성명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이준학, 김희연, 설아형, 유한희, 이재은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9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과제명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연예 에이전시를 위한 AI 기반 실무 효율화 플랫폼: CeleFix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99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서비스 내용</a:t>
                      </a:r>
                      <a:br>
                        <a:rPr b="1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(주요 기능, 기술 포함)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1.사용자 페이지</a:t>
                      </a:r>
                      <a:endParaRPr b="1"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고객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기업·지역·대학 행사 기획 담당자)이 섭외 요청과 피드백을 작성하는 공간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섭외 요청서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플랫폼 내 섭외 요청서에 예산, 원하는 연예인, 행사, 연락처 등 조건 입력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-섭외 요청서를 통해 입력된 데이터는 내부 DB에 저장되어 관리자 페이지의 AI 에이전트 챗봇과 연동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-AI 섭외비 예측 시스템을 통해 입력된 연예인의 섭외비 범위를 자동 표시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※AI 섭외비 예측 시스템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-SNS 영향력 및 과거 섭외 이력 데이터를 기반으로 합리적인 섭외비 예측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-심층신경망(DNN) + 유전 알고리즘 최적화 활용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-사용자 페이지의 섭외 요청서, 관리자 페이지의 AI 에이전트 챗봇에 도입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피드백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행사 종료 후 고객이 만족도</a:t>
                      </a: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·참석자 반응·연예인별 평가를 입력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-데이터는 플랫폼에 저장되어 차기 행사 기획 및 서비스 고도화에 활용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2e4e4a464_0_9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g382e4e4a464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g382e4e4a464_0_9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g382e4e4a464_0_9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g382e4e4a464_0_9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394050"/>
                <a:gridCol w="3005950"/>
                <a:gridCol w="745875"/>
                <a:gridCol w="1721975"/>
                <a:gridCol w="382850"/>
                <a:gridCol w="2801975"/>
              </a:tblGrid>
              <a:tr h="516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서비스 내용</a:t>
                      </a:r>
                      <a:br>
                        <a:rPr b="1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(주요 기능, 기술 포함)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2.관리자 페이지</a:t>
                      </a:r>
                      <a:endParaRPr b="1"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에이전시 실무자가 응답·추천·계약 등 실무를  처리하는 공간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① AI 에이전트 챗봇</a:t>
                      </a:r>
                      <a:endParaRPr b="1"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■AI 섭외비 예측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-AI 섭외비 예측 시스템을 통해 챗봇에 입력된 연예인의 구체적인 섭외비 예측 및 제시</a:t>
                      </a:r>
                      <a:endParaRPr b="1"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■선제 제안 지원 (잠재 고객 발굴 + 라인업 자동 구성)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-행사 DB를 기반으로 예정된 행사 자동 탐색·예측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-행사 특성(규모, 대상, 분위기)에 맞는 최적 라인업 자동 제안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고객 요구 조건 기반 추천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-섭외 요청서 정보가 자동 반영되어, 각 행사의 조건에 맞는 최적 라인업 자동 구성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-예산·인기도·장르 적합성 등 정량 지표 기반의 최적 조합 도출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-지정 연예인의 스케줄 가용 여부 자동 확인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→가능할 경우, 지정 연예인을 포함한 최적 라인업 제안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→불가능할 경우, 분위기·예산·인기도 유사 대체 연예인 자동 제안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맞춤 제안서 자동 작성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-추천 결과와 적합성 설명을 포함된 제안서 자동 생성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-고객 설득에 필요한 핵심 메시지 자동 반영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계약서 자동 생성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-고객 승인 후 계약서 자동 생성 및 발송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-전자 서명 연동으로 체결 속도 향상 및 업무 효율 개선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2e4e4a464_0_54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82e4e4a464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g382e4e4a464_0_54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g382e4e4a464_0_54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2" name="Google Shape;122;g382e4e4a464_0_54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394050"/>
                <a:gridCol w="3005950"/>
                <a:gridCol w="745875"/>
                <a:gridCol w="1721975"/>
                <a:gridCol w="382850"/>
                <a:gridCol w="2801975"/>
              </a:tblGrid>
              <a:tr h="516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서비스 내용</a:t>
                      </a:r>
                      <a:br>
                        <a:rPr b="1" lang="ko-K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(주요 기능, 기술 포함)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② 캘린더 </a:t>
                      </a:r>
                      <a:endParaRPr b="1"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엔터사·연예인 매니저의 Google Calendar API와 연동, 스케줄 동기화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■연예인 스케줄 캘린더 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-연예인별 가용 일정을 실시간 확인 및 AI 라인업 추천 알고리즘에 적용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-스케줄 충돌 자동 감지 및 대체 일정·해결 방안 제안</a:t>
                      </a:r>
                      <a:endParaRPr b="1"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행사 스케줄 캘린더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-내부 행사 데이터를 바탕으로 행사 진행 예정일 표시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-대학·기업행사 등 행사 유형별 일정 필터링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■계약 관리 캘린더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-계약 상태(확정·협의 중·검토 중)를 색상 구분으로 시각화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-행사/출연 이력 및 계약 히스토리 추적에 사용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③ 대시보드</a:t>
                      </a:r>
                      <a:endParaRPr b="1"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실무자의 자유로운 탐색 및 섭외 판단을 돕는 종합 정보 페이지 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■메인 대시보드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 인기 Top 5, 유망 연예인 &amp; 트렌드 분석 등 전체 연예인 현황과 시장 트렌드를 한눈에 파악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 전체 연예인 데이터 탐색 가능(필터링, 정렬 포함)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■세부 대시보드(AI 에이전트 챗봇 내에서 동작)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-추천·검토 대상 연예인을 상세히 분석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-추천 연예인의 SNS 반응, 수익, 행사 이력 등 주요 지표 시각화 → 추천 결과 검증 가능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2e4e4a464_0_72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82e4e4a464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g382e4e4a464_0_72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g382e4e4a464_0_72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" name="Google Shape;132;g382e4e4a464_0_72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394050"/>
                <a:gridCol w="3005950"/>
                <a:gridCol w="745875"/>
                <a:gridCol w="1721975"/>
                <a:gridCol w="382850"/>
                <a:gridCol w="2801975"/>
              </a:tblGrid>
              <a:tr h="49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목표 고객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(B2B.B2G 대상)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(주)더메르센 에이전시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제안사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LG CNS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7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과제 선정 배경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1.축제 시장의 성장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지역 축제의 지속적 증가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-884개(2019년) → 1214개(2025년) 약 37.3% 증가 (문화체육관광부 집계 기준)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대학 축제에서의 연예인 섭외 수요 증가 및 적극적 비용 투자 현상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-대학생 92.3%가 ‘대학 축제에 연예인 초청 필수’ 항목에 응답 (대학내일20대연구소, ‘20대 대학생 인식 조사’)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-학교 측에서도 ‘연예인 공연’을 행사 흥행과 이미지 제고 수단으로 인식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-섭외를 위한 적극적 예산 배정 (부산대의 경우 1년 치 학생활동지원 예산의 63.8%를 축제 예산으로 사용, 조달청 나라장터)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2.시장 유형별 에이전시의 난제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[1] 대학 축제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연예인 섭외 단가 상승 트렌드와 과열된 수요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-코로나 이전 4000만원 수준이던 섭외비가 최근 5000만원 이상으로 상승하며, 최대 1.5배 증가한 사례도 발생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-고객이 설정한 예산과 실제 섭외 단가간의 격차가 커지며, 에이전시는 섭외 대상 조율과 출연 조건 협상에 더 많은 시간과 노력을 소요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[2] 지역축제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■지역 축제의 양적 증가 대비 지역주민 및 외부방문객 참가율 하락 →  지역축제의 질적 개선 및 재정 운영 효율화 필요성 대두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2e4e4a464_0_99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82e4e4a464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g382e4e4a464_0_99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g382e4e4a464_0_99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2" name="Google Shape;142;g382e4e4a464_0_99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394050"/>
                <a:gridCol w="3005950"/>
                <a:gridCol w="745875"/>
                <a:gridCol w="1721975"/>
                <a:gridCol w="382850"/>
                <a:gridCol w="2801975"/>
              </a:tblGrid>
              <a:tr h="2998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과제 선정 배경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3.연예인 섭외 시장에서 주목받는 섭외 에이전시, 더메르센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기업·지역·대학을 아우르는 다양한 축제 경험 보유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■대형 엔터테인먼트사와의 공식 파트너십을 통해 인기 아티스트와의 섭외 채널 확보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에이전시의 실무 개선을 위한 DX 전환 시도 경험 보유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4.현 섭외 시장에서 더메르센 에이전시가 겪는 문제</a:t>
                      </a:r>
                      <a:endParaRPr b="1"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섭외비 정보 부족으로 고객 예산과 실제 단가 간 괴리가 커 협상이 지연되고, 타 에이전시 소속 연예인의 섭외 시 합리적인 금액 협상이 어려움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실무자 경험에 의존한 라인업 구성으로 고객 요구와 불일치해 계약 성사율이 낮아짐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제안서·계약서 작성 등 반복적 수작업으로 신속 대응이 어려울 뿐 아니라, 들인 노력 대비 선제 영업의 성사 불확실성이 커 도전조차 어려움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17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활용 데이터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1.공개 데이터(API 수집)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연예인 추가 정보: 기획사 규모, 장르, 팀 분류(솔로/그룹), 성별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성과 및 인지도 지표: 논란 여부, 빌리언스 클럽 달성 여부, 수상 횟수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SNS 영향력: 인스타 팔로워 수, 유튜브 구독자 수, 유튜브 조회수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최근 활동: 최근 MV 업로드 수, 최근 MV 조회수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2.내부데이터(더메르센 제공)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연예인 기본 정보: 활동명, 섭외비, 행사 형태, 지역명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2e4e4a464_0_108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82e4e4a464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g382e4e4a464_0_108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g382e4e4a464_0_108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2" name="Google Shape;152;g382e4e4a464_0_108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394050"/>
                <a:gridCol w="3005950"/>
                <a:gridCol w="745875"/>
                <a:gridCol w="1721975"/>
                <a:gridCol w="382850"/>
                <a:gridCol w="2801975"/>
              </a:tblGrid>
              <a:tr h="516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 효과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1. 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추천 정확도 향상을 통한 계약 전환율 및 매출 증대 효과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해당 전략 사용 시,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연예인 및 라인업 추천 정확도 약 6.4% 향상 → 연간 최대 2100만 원 추가 매출 기대 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근거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ELIXIR 프로젝트(영화·도서 추천 실험, arXiv)의 설명 기반 피드백을 포함한 AI 추천 모델이 Top-10 Precision(추천 정확도) 최대 +6.4% 향상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과정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계약 성사 건수: 월 50건(가정)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계약 1건당 평균 매출: 100만원(가정)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추천 정확도(Top-10 Precision): 100(기준값)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전략 도입 후 정확도: 106.4(+6.4%)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정확도 6.4% 향상 → 계약 전환율 약 3.5% 상승 (추천 정확도 1% 향상당 계약 전환율 +0.55%p 가정)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전략 도입 후 계약 성사 건수: 51.75건 (50건 × (1 + 0.035) = 51.75건) → 월 1.75건 추가 계약 발생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매출 증가 환산: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1.75건 × 100만 원/건 = 175만 원 추가 매출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연간 환산 시: 2,100만 원 추가 매출 효과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24시간 → 9.6 시간으로 계약 처리 시간 60% 절감 및 계약 처리 비용 최대 50% 절감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근거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LG CNS AutomateOne에서 RPA 도입 후 작성·전송·서명·상태 확인 전 과정을 자동화하여 기존 계약 1건당 3시간의 평균 소요시간을 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1.2~2.1시간</a:t>
                      </a: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으로 단축 → 최대 60% 시간 절감, 주 10건 기준 월 72시간 이상 절약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Deloitte 보고서: 계약 프로세스 자동화로 연간 계약 처리 비용 30~50% 절감 사례 다수 확인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2e4e4a464_0_126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382e4e4a464_0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g382e4e4a464_0_126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g382e4e4a464_0_126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g382e4e4a464_0_126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394050"/>
                <a:gridCol w="3005950"/>
                <a:gridCol w="745875"/>
                <a:gridCol w="1721975"/>
                <a:gridCol w="382850"/>
                <a:gridCol w="2801975"/>
              </a:tblGrid>
              <a:tr h="516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 효과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과정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계약 체결 소요 시간: 평균 24시간 (가정)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전략 도입 후 계약 체결 소요 시간: 24×(1−0.60)=9.6 시간 → 약 14.4시간 절감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계약 처리 비용: 연간 100만원 소요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전략 도입 후 계약 처리 비용: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최소 절감액: 100만 원 × 30% = 30만 원 절감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최대 절감액: 100만 원 × 50% = 50만 원 절감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→ 연간 계약 처리 비용 70~50만 원 수준으로 감소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2.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선제제안 전략을 통한 고객 관계 강화와 수익성 확보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선제제안 전략 활용 시,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월 0건 → 월 최대 2.04건 이상 신규 계약 창출 + 월 최대 204만원 신규 수익 창출 가능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근거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LinkedIn은 고객 요청 전, AI 기반 추천을 활용한 선제제안 시스템(Account Prioritizer)을 신규 도입하여 계약 갱신 건수 평균 8.08%~20.4%까지 증가 입증(A/B TEST)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과정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계약 1건당 평균 매출: 100만원(가정)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선제제안 도입 전: 월 0건(선제제안 도입X)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선제제안 도입 후: 월 0.81~2.04건 추가 창출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 (LinkedIn 평균 8.08%~20.4%까지 증가를 기준으로 환산)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기대 매출 증가: 월 81~204만원 추가 수익 창출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2e4e4a464_0_117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82e4e4a464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g382e4e4a464_0_117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g382e4e4a464_0_117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g382e4e4a464_0_117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394050"/>
                <a:gridCol w="3005950"/>
                <a:gridCol w="745875"/>
                <a:gridCol w="1721975"/>
                <a:gridCol w="382850"/>
                <a:gridCol w="2801975"/>
              </a:tblGrid>
              <a:tr h="516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 효과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3.추천 시스템 고도화를 통한 정밀도와 신뢰도 동시 강화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 추천 시스템에 피드백 기반 학습 구조 도입 시, 추천 정확도 약 11.52% 향상 기대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→ 고객 승인율 및 계약 성사율 동반 상승으로 영업 성과 확대 기여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근거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-AFL(Agentic Feedback Loop): AI 추천 시스템의 성능을 높이기 위한 협력적 피드백 구조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-AFL의 기존 추천 시스템과의 비교 실험: 기존 추천 시스템 대비 추천 정확도가 평균 11.52% 향상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과정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추천 정확도: 100(가정)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전략 도입 후 추천 정확도: 111.52 (+11.52% 향상) (100 × (1 + 11.52 / 100) = 111.52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AI 기반 작업 지원을 통한 업무 효율성 및 실행 속도 향상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해당 전략 사용 시,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수작업 기반 제안서 작성 대비, 최대 약 90% 이상 소요 시간 및 인건비 절감 가능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환산 근거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Storydoc의 AI Proposal Maker는 CRM 데이터, 브랜드 아이덴티티, 기존 콘텐츠를 결합 5분 이내에 제안서 완성 → 제안서 작성 속도 기존 대비 10배 향상, 영업 사이클 기존 대비 30% 단축 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과정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(최저시급 기준, 원 50건 기준)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방식: 1건당 3시간, 월 150시간, 1548000원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전략 도입 후: 1건당 18분(속도 10배 향상), 월 15시간, 154800원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절감 효과: 135시간 절감, 139.3만원 절감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최대 약 90% 이상 시간 및 인건비 절감 가능  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2e4e4a464_0_135"/>
          <p:cNvSpPr txBox="1"/>
          <p:nvPr/>
        </p:nvSpPr>
        <p:spPr>
          <a:xfrm>
            <a:off x="134654" y="101758"/>
            <a:ext cx="64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82e4e4a464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g382e4e4a464_0_135"/>
          <p:cNvCxnSpPr/>
          <p:nvPr/>
        </p:nvCxnSpPr>
        <p:spPr>
          <a:xfrm>
            <a:off x="382521" y="885825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1" name="Google Shape;181;g382e4e4a464_0_135"/>
          <p:cNvSpPr txBox="1"/>
          <p:nvPr/>
        </p:nvSpPr>
        <p:spPr>
          <a:xfrm>
            <a:off x="382521" y="857794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" name="Google Shape;182;g382e4e4a464_0_135"/>
          <p:cNvGraphicFramePr/>
          <p:nvPr/>
        </p:nvGraphicFramePr>
        <p:xfrm>
          <a:off x="696000" y="1271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{C77BC4B2-8FD8-4E3D-8A0F-254F319297D3}</a:tableStyleId>
              </a:tblPr>
              <a:tblGrid>
                <a:gridCol w="2394050"/>
                <a:gridCol w="3005950"/>
                <a:gridCol w="745875"/>
                <a:gridCol w="1721975"/>
                <a:gridCol w="382850"/>
                <a:gridCol w="2801975"/>
              </a:tblGrid>
              <a:tr h="516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 효과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4.영업 사이클 단축 및 전환율 향상을 통한 성과 극대화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 해당 전략 도입 시,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평균 영업 사이클 30일 → 21.3일 단축, 약 29% 감소 → 영업 생산성 최대 25% 향상 기대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근거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B2B 제조업 &amp; IT 서비스 기업 다수에 Salesforce CRM 도입 → 평균 영업 사이클 42일에서 30일로 단축(약 29% 단축), 리드 전환율 30% 이상 증가, 영업 생산성 15~25% 향상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■ 환산 과정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평균 영업 사이클: 30일 (가정)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도입 후 평균 영업 사이클: 21.3일(Salesforce의 영업 사이클 단축률 29% 반영)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(30일 × (1 - 0.29) = 21.3일)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>
                          <a:latin typeface="Arial"/>
                          <a:ea typeface="Arial"/>
                          <a:cs typeface="Arial"/>
                          <a:sym typeface="Arial"/>
                        </a:rPr>
                        <a:t>→ 약 8.7일 단축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82e4e4a464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82e4e4a464_0_144"/>
          <p:cNvSpPr txBox="1"/>
          <p:nvPr/>
        </p:nvSpPr>
        <p:spPr>
          <a:xfrm>
            <a:off x="134653" y="101758"/>
            <a:ext cx="67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g382e4e4a464_0_144"/>
          <p:cNvCxnSpPr/>
          <p:nvPr/>
        </p:nvCxnSpPr>
        <p:spPr>
          <a:xfrm>
            <a:off x="382521" y="752601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g382e4e4a464_0_144"/>
          <p:cNvSpPr txBox="1"/>
          <p:nvPr/>
        </p:nvSpPr>
        <p:spPr>
          <a:xfrm>
            <a:off x="382521" y="724570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2" name="Google Shape;192;g382e4e4a464_0_144"/>
          <p:cNvGraphicFramePr/>
          <p:nvPr/>
        </p:nvGraphicFramePr>
        <p:xfrm>
          <a:off x="618387" y="10504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{2166DFF5-065E-4685-8932-5BEBC4207839}</a:tableStyleId>
              </a:tblPr>
              <a:tblGrid>
                <a:gridCol w="1217250"/>
                <a:gridCol w="1217250"/>
                <a:gridCol w="1217250"/>
                <a:gridCol w="1217250"/>
                <a:gridCol w="1217250"/>
                <a:gridCol w="1217250"/>
                <a:gridCol w="1217250"/>
                <a:gridCol w="1217250"/>
                <a:gridCol w="1217250"/>
              </a:tblGrid>
              <a:tr h="412200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조원별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R&amp;R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조원명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solidFill>
                            <a:schemeClr val="dk1"/>
                          </a:solidFill>
                        </a:rPr>
                        <a:t>제안기획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solidFill>
                            <a:schemeClr val="dk1"/>
                          </a:solidFill>
                        </a:rPr>
                        <a:t>데이터분석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>
                          <a:solidFill>
                            <a:schemeClr val="dk1"/>
                          </a:solidFill>
                        </a:rPr>
                        <a:t>프로토타입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solidFill>
                            <a:schemeClr val="dk1"/>
                          </a:solidFill>
                        </a:rPr>
                        <a:t>영상 편집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발표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solidFill>
                            <a:schemeClr val="dk1"/>
                          </a:solidFill>
                        </a:rPr>
                        <a:t>PPT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>
                          <a:solidFill>
                            <a:schemeClr val="dk1"/>
                          </a:solidFill>
                        </a:rPr>
                        <a:t>구성도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900">
                          <a:solidFill>
                            <a:schemeClr val="dk1"/>
                          </a:solidFill>
                        </a:rPr>
                        <a:t>(서비스, 인프라, 시스템)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41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이준학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1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김희연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1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설아형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12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유한희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00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이재은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766" y="156121"/>
            <a:ext cx="1313732" cy="3012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134653" y="101758"/>
            <a:ext cx="67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[과제 심의] 조별 과제 정의서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18"/>
          <p:cNvCxnSpPr/>
          <p:nvPr/>
        </p:nvCxnSpPr>
        <p:spPr>
          <a:xfrm>
            <a:off x="382521" y="752601"/>
            <a:ext cx="0" cy="252300"/>
          </a:xfrm>
          <a:prstGeom prst="straightConnector1">
            <a:avLst/>
          </a:prstGeom>
          <a:noFill/>
          <a:ln cap="flat" cmpd="sng" w="57150">
            <a:solidFill>
              <a:srgbClr val="37B2A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8"/>
          <p:cNvSpPr txBox="1"/>
          <p:nvPr/>
        </p:nvSpPr>
        <p:spPr>
          <a:xfrm>
            <a:off x="382521" y="724570"/>
            <a:ext cx="8846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조별 과제 정의서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18"/>
          <p:cNvGraphicFramePr/>
          <p:nvPr/>
        </p:nvGraphicFramePr>
        <p:xfrm>
          <a:off x="618412" y="1051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{2166DFF5-065E-4685-8932-5BEBC4207839}</a:tableStyleId>
              </a:tblPr>
              <a:tblGrid>
                <a:gridCol w="1378600"/>
                <a:gridCol w="845575"/>
                <a:gridCol w="3775575"/>
                <a:gridCol w="1303725"/>
                <a:gridCol w="2343000"/>
                <a:gridCol w="1308725"/>
              </a:tblGrid>
              <a:tr h="322875">
                <a:tc rowSpan="9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주차별 세부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일정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주차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수행 과업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일정(기한)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주요활동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322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1주차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과제 정의서 개인별 작성, </a:t>
                      </a:r>
                      <a:r>
                        <a:rPr lang="ko-KR">
                          <a:solidFill>
                            <a:schemeClr val="dk1"/>
                          </a:solidFill>
                        </a:rPr>
                        <a:t>과제발굴워크숍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7.11(금)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과제 발굴 및 과제 정의서 초안 작성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22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2주차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과제발굴워크숍 및 과제 선정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7.18(금)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과제 평가 및 우선 순위 선정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22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3주차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선정 과제 고도화, </a:t>
                      </a:r>
                      <a:r>
                        <a:rPr lang="ko-KR">
                          <a:solidFill>
                            <a:schemeClr val="dk1"/>
                          </a:solidFill>
                        </a:rPr>
                        <a:t>데이터 확보 계획 수립 및 데이터 수집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7.25(금)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데이터 수집 범위 확정, 선정 과제 배경 조사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현장 조사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22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4주차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수집 데이터 분석 및 초기 인사이트 도출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8.1(금)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데이터 전처리 및 통계 분석, 초기 인사이트 도출 및 시각화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22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5주차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제안사, 경쟁사 재설정 및 환경 분석 재시도, 데이터 분석 방향성 논의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8.8(금)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경쟁사 및 시장 재분석, 제안서 초안 구성 및 피드백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22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6주차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IT </a:t>
                      </a:r>
                      <a:r>
                        <a:rPr lang="ko-KR"/>
                        <a:t>인프라 구성(목표 시스템 구성도, 서비스 흐름도, 인프라 구성도)제작, 프로토타입 제작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8.14(목)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시스템 아키텍처 설계, 프로토타입 UI·UX 초안 제작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현장 조사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22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7주차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PPT </a:t>
                      </a:r>
                      <a:r>
                        <a:rPr lang="ko-KR"/>
                        <a:t>흐름 논의, 데이터 분석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8.22(금)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데이터 분석 심화 및 주요 지표 확정, PPT 전개 논의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22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8주차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PPT </a:t>
                      </a:r>
                      <a:r>
                        <a:rPr lang="ko-KR"/>
                        <a:t>구상·제작, 1P 설명서 구상·제작, 숏/전체 발표 영상 촬영 ·편집, 시연 영상 촬영·편집, 과제정의서 작성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/>
                        <a:t>8.28(목)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ko-KR">
                          <a:solidFill>
                            <a:schemeClr val="dk1"/>
                          </a:solidFill>
                        </a:rPr>
                        <a:t>PPT 구상·제작, 1P 설명서 구상·제작, 숏/전체 발표 영상 촬영 ·편집, 시연 영상 촬영·편집, 과제정의서 작성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1b5d807d25a_29_3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578"/>
            <a:ext cx="12191999" cy="6869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1b5d807d25a_29_3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3487" y="3181859"/>
            <a:ext cx="2105027" cy="482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1FD50E38AF0AC4785451C4F12761FB6" ma:contentTypeVersion="9" ma:contentTypeDescription="새 문서를 만듭니다." ma:contentTypeScope="" ma:versionID="05ce6b50972df97abe7e3133071172e4">
  <xsd:schema xmlns:xsd="http://www.w3.org/2001/XMLSchema" xmlns:xs="http://www.w3.org/2001/XMLSchema" xmlns:p="http://schemas.microsoft.com/office/2006/metadata/properties" xmlns:ns2="83fa82f3-e9ff-4381-8a02-09a021770668" targetNamespace="http://schemas.microsoft.com/office/2006/metadata/properties" ma:root="true" ma:fieldsID="ac270955862015a242209a251295247f" ns2:_="">
    <xsd:import namespace="83fa82f3-e9ff-4381-8a02-09a0217706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a82f3-e9ff-4381-8a02-09a0217706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fa82f3-e9ff-4381-8a02-09a02177066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14A245-F27D-43D1-9445-57450D46BA07}"/>
</file>

<file path=customXml/itemProps2.xml><?xml version="1.0" encoding="utf-8"?>
<ds:datastoreItem xmlns:ds="http://schemas.openxmlformats.org/officeDocument/2006/customXml" ds:itemID="{CF429858-CA84-4FA0-B435-55E2FE323F0A}"/>
</file>

<file path=customXml/itemProps3.xml><?xml version="1.0" encoding="utf-8"?>
<ds:datastoreItem xmlns:ds="http://schemas.openxmlformats.org/officeDocument/2006/customXml" ds:itemID="{F580F235-4A26-46DA-947A-F55FE9402C2A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최혜민(육성기획팀)</dc:creator>
  <dcterms:created xsi:type="dcterms:W3CDTF">2022-11-28T04:55:46Z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0x01010051FD50E38AF0AC4785451C4F12761FB6</vt:lpwstr>
  </property>
  <property fmtid="{D5CDD505-2E9C-101B-9397-08002B2CF9AE}" pid="3" name="MSIP_Label_b367c47c-7c04-4ffb-b460-0af27cc1564d_SiteId">
    <vt:lpwstr>e6c9ec09-8430-4a99-bf15-242bc089b409</vt:lpwstr>
  </property>
  <property fmtid="{D5CDD505-2E9C-101B-9397-08002B2CF9AE}" pid="4" name="MSIP_Label_b367c47c-7c04-4ffb-b460-0af27cc1564d_SetDate">
    <vt:lpwstr>2025-06-09T05:42:40Z</vt:lpwstr>
  </property>
  <property fmtid="{D5CDD505-2E9C-101B-9397-08002B2CF9AE}" pid="5" name="MSIP_Label_b367c47c-7c04-4ffb-b460-0af27cc1564d_Name">
    <vt:lpwstr>KT</vt:lpwstr>
  </property>
  <property fmtid="{D5CDD505-2E9C-101B-9397-08002B2CF9AE}" pid="6" name="MSIP_Label_b367c47c-7c04-4ffb-b460-0af27cc1564d_Method">
    <vt:lpwstr>Privileged</vt:lpwstr>
  </property>
  <property fmtid="{D5CDD505-2E9C-101B-9397-08002B2CF9AE}" pid="7" name="MSIP_Label_b367c47c-7c04-4ffb-b460-0af27cc1564d_Enabled">
    <vt:lpwstr>true</vt:lpwstr>
  </property>
  <property fmtid="{D5CDD505-2E9C-101B-9397-08002B2CF9AE}" pid="8" name="MSIP_Label_b367c47c-7c04-4ffb-b460-0af27cc1564d_ContentBits">
    <vt:lpwstr>8</vt:lpwstr>
  </property>
</Properties>
</file>